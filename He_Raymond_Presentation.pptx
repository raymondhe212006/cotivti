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8895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0" roundtripDataSignature="AMtx7miHOHmb7DF96UY9KGxvVY4L5Rbma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customschemas.google.com/relationships/presentationmetadata" Target="metadata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60E1A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COTIVITI INTERN ASSESSMENT  ·  AUGUST 2026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502920" y="777240"/>
            <a:ext cx="658368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Med</a:t>
            </a:r>
            <a:r>
              <a:rPr b="1" i="0" lang="en-US" sz="720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Quorum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548640" y="3246120"/>
            <a:ext cx="6217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Agentic multi-stakeholder prior authorization simulation — a proof of concept for Cotiviti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548640" y="3840480"/>
            <a:ext cx="6400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Raymond He  ·  Inspired by MiroFish  ·  Claude claude-sonnet-4-6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8229600" y="685800"/>
            <a:ext cx="3474720" cy="1325880"/>
          </a:xfrm>
          <a:prstGeom prst="rect">
            <a:avLst/>
          </a:prstGeom>
          <a:solidFill>
            <a:srgbClr val="0D1E33"/>
          </a:solidFill>
          <a:ln cap="flat" cmpd="sng" w="9525">
            <a:solidFill>
              <a:srgbClr val="1E3A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8366760" y="795528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$31B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8366760" y="1280160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annual U.S. prior authorization</a:t>
            </a:r>
            <a:b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administrative burden</a:t>
            </a:r>
            <a:endParaRPr/>
          </a:p>
        </p:txBody>
      </p:sp>
      <p:sp>
        <p:nvSpPr>
          <p:cNvPr id="92" name="Google Shape;92;p1"/>
          <p:cNvSpPr/>
          <p:nvPr/>
        </p:nvSpPr>
        <p:spPr>
          <a:xfrm>
            <a:off x="8229600" y="2176272"/>
            <a:ext cx="3474720" cy="1325880"/>
          </a:xfrm>
          <a:prstGeom prst="rect">
            <a:avLst/>
          </a:prstGeom>
          <a:solidFill>
            <a:srgbClr val="0D1E33"/>
          </a:solidFill>
          <a:ln cap="flat" cmpd="sng" w="9525">
            <a:solidFill>
              <a:srgbClr val="1E3A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8366760" y="2286000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4 stages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8366760" y="2770632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generate → react →</a:t>
            </a:r>
            <a:b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reassess → verdict</a:t>
            </a:r>
            <a:endParaRPr/>
          </a:p>
        </p:txBody>
      </p:sp>
      <p:sp>
        <p:nvSpPr>
          <p:cNvPr id="95" name="Google Shape;95;p1"/>
          <p:cNvSpPr/>
          <p:nvPr/>
        </p:nvSpPr>
        <p:spPr>
          <a:xfrm>
            <a:off x="8229600" y="3666744"/>
            <a:ext cx="3474720" cy="1325880"/>
          </a:xfrm>
          <a:prstGeom prst="rect">
            <a:avLst/>
          </a:prstGeom>
          <a:solidFill>
            <a:srgbClr val="0D1E33"/>
          </a:solidFill>
          <a:ln cap="flat" cmpd="sng" w="9525">
            <a:solidFill>
              <a:srgbClr val="1E3A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8366760" y="3776472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~1 min</a:t>
            </a:r>
            <a:endParaRPr/>
          </a:p>
        </p:txBody>
      </p:sp>
      <p:sp>
        <p:nvSpPr>
          <p:cNvPr id="97" name="Google Shape;97;p1"/>
          <p:cNvSpPr txBox="1"/>
          <p:nvPr/>
        </p:nvSpPr>
        <p:spPr>
          <a:xfrm>
            <a:off x="8366760" y="4261104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end-to-end, any proposal,</a:t>
            </a:r>
            <a:b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any stakeholder panel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60E1A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WHY THIS MATTERS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502920" y="822960"/>
            <a:ext cx="347472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60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$31B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548640" y="324612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annual U.S. healthcare</a:t>
            </a:r>
            <a:b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prior authorization</a:t>
            </a:r>
            <a:b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administrative burden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3931920" y="914400"/>
            <a:ext cx="76809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Prior authorization hasn't fundamentally changed in decades: sequential, siloed review by human experts — slow, inconsistent, and difficult to audit. Starting in 2026, CMS mandates decisions in 72 hours for expedited requests.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3931920" y="2423160"/>
            <a:ext cx="2377440" cy="1143000"/>
          </a:xfrm>
          <a:prstGeom prst="rect">
            <a:avLst/>
          </a:prstGeom>
          <a:solidFill>
            <a:srgbClr val="0D1E33"/>
          </a:solidFill>
          <a:ln cap="flat" cmpd="sng" w="9525">
            <a:solidFill>
              <a:srgbClr val="1E3A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4069080" y="2532888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43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4069080" y="301752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PA requests per</a:t>
            </a:r>
            <a:b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physician per week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6473952" y="2423160"/>
            <a:ext cx="2377440" cy="1143000"/>
          </a:xfrm>
          <a:prstGeom prst="rect">
            <a:avLst/>
          </a:prstGeom>
          <a:solidFill>
            <a:srgbClr val="0D1E33"/>
          </a:solidFill>
          <a:ln cap="flat" cmpd="sng" w="9525">
            <a:solidFill>
              <a:srgbClr val="1E3A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6611112" y="2532888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12 hrs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6611112" y="301752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weekly physician time</a:t>
            </a:r>
            <a:b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spent on PA admin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9015984" y="2423160"/>
            <a:ext cx="2377440" cy="1143000"/>
          </a:xfrm>
          <a:prstGeom prst="rect">
            <a:avLst/>
          </a:prstGeom>
          <a:solidFill>
            <a:srgbClr val="0D1E33"/>
          </a:solidFill>
          <a:ln cap="flat" cmpd="sng" w="9525">
            <a:solidFill>
              <a:srgbClr val="1E3A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9153144" y="2532888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35%</a:t>
            </a:r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9153144" y="301752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physicians report</a:t>
            </a:r>
            <a:b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5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PA-related patient harm</a:t>
            </a:r>
            <a:endParaRPr/>
          </a:p>
        </p:txBody>
      </p:sp>
      <p:sp>
        <p:nvSpPr>
          <p:cNvPr id="116" name="Google Shape;116;p2"/>
          <p:cNvSpPr/>
          <p:nvPr/>
        </p:nvSpPr>
        <p:spPr>
          <a:xfrm>
            <a:off x="3931920" y="3749039"/>
            <a:ext cx="6766560" cy="502920"/>
          </a:xfrm>
          <a:prstGeom prst="rect">
            <a:avLst/>
          </a:prstGeom>
          <a:solidFill>
            <a:srgbClr val="002822"/>
          </a:solidFill>
          <a:ln cap="flat" cmpd="sng" w="9525">
            <a:solidFill>
              <a:srgbClr val="00807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4114800" y="3822191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● CMS-0057-F: 72-hr expedited  ·  7-day standard  —  effective 2026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60E1A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MEDQUORUM</a:t>
            </a:r>
            <a:endParaRPr/>
          </a:p>
        </p:txBody>
      </p:sp>
      <p:sp>
        <p:nvSpPr>
          <p:cNvPr id="124" name="Google Shape;124;p3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A four-stage agentic pipeline that simulates every relevant reviewer — simultaneously — from any prior authorization proposal.</a:t>
            </a:r>
            <a:endParaRPr/>
          </a:p>
        </p:txBody>
      </p:sp>
      <p:sp>
        <p:nvSpPr>
          <p:cNvPr id="125" name="Google Shape;125;p3"/>
          <p:cNvSpPr/>
          <p:nvPr/>
        </p:nvSpPr>
        <p:spPr>
          <a:xfrm>
            <a:off x="361188" y="1920240"/>
            <a:ext cx="2606040" cy="1920240"/>
          </a:xfrm>
          <a:prstGeom prst="rect">
            <a:avLst/>
          </a:prstGeom>
          <a:solidFill>
            <a:srgbClr val="0D1E33"/>
          </a:solidFill>
          <a:ln cap="flat" cmpd="sng" w="9525">
            <a:solidFill>
              <a:srgbClr val="1E3A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489204" y="2029968"/>
            <a:ext cx="23500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① Role Generation</a:t>
            </a:r>
            <a:endParaRPr/>
          </a:p>
        </p:txBody>
      </p:sp>
      <p:sp>
        <p:nvSpPr>
          <p:cNvPr id="127" name="Google Shape;127;p3"/>
          <p:cNvSpPr txBox="1"/>
          <p:nvPr/>
        </p:nvSpPr>
        <p:spPr>
          <a:xfrm>
            <a:off x="489204" y="2304288"/>
            <a:ext cx="23500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Derive reviewers</a:t>
            </a:r>
            <a:endParaRPr/>
          </a:p>
        </p:txBody>
      </p:sp>
      <p:sp>
        <p:nvSpPr>
          <p:cNvPr id="128" name="Google Shape;128;p3"/>
          <p:cNvSpPr txBox="1"/>
          <p:nvPr/>
        </p:nvSpPr>
        <p:spPr>
          <a:xfrm>
            <a:off x="489204" y="2670048"/>
            <a:ext cx="2350008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LLM identifies relevant stakeholders from the proposal — clinical, financial, compliance, operations</a:t>
            </a:r>
            <a:endParaRPr/>
          </a:p>
        </p:txBody>
      </p:sp>
      <p:sp>
        <p:nvSpPr>
          <p:cNvPr id="129" name="Google Shape;129;p3"/>
          <p:cNvSpPr txBox="1"/>
          <p:nvPr/>
        </p:nvSpPr>
        <p:spPr>
          <a:xfrm>
            <a:off x="2967228" y="2651760"/>
            <a:ext cx="3474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130" name="Google Shape;130;p3"/>
          <p:cNvSpPr/>
          <p:nvPr/>
        </p:nvSpPr>
        <p:spPr>
          <a:xfrm>
            <a:off x="3314700" y="1920240"/>
            <a:ext cx="2606040" cy="1920240"/>
          </a:xfrm>
          <a:prstGeom prst="rect">
            <a:avLst/>
          </a:prstGeom>
          <a:solidFill>
            <a:srgbClr val="0D1E33"/>
          </a:solidFill>
          <a:ln cap="flat" cmpd="sng" w="9525">
            <a:solidFill>
              <a:srgbClr val="1E3A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 txBox="1"/>
          <p:nvPr/>
        </p:nvSpPr>
        <p:spPr>
          <a:xfrm>
            <a:off x="3442716" y="2029968"/>
            <a:ext cx="23500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② Initial Reaction</a:t>
            </a:r>
            <a:endParaRPr/>
          </a:p>
        </p:txBody>
      </p:sp>
      <p:sp>
        <p:nvSpPr>
          <p:cNvPr id="132" name="Google Shape;132;p3"/>
          <p:cNvSpPr txBox="1"/>
          <p:nvPr/>
        </p:nvSpPr>
        <p:spPr>
          <a:xfrm>
            <a:off x="3442716" y="2304288"/>
            <a:ext cx="23500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Independent rating</a:t>
            </a:r>
            <a:endParaRPr/>
          </a:p>
        </p:txBody>
      </p:sp>
      <p:sp>
        <p:nvSpPr>
          <p:cNvPr id="133" name="Google Shape;133;p3"/>
          <p:cNvSpPr txBox="1"/>
          <p:nvPr/>
        </p:nvSpPr>
        <p:spPr>
          <a:xfrm>
            <a:off x="3442716" y="2670048"/>
            <a:ext cx="2350008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Each persona evaluates from their professional lens, rates 1–5, cites biggest concern</a:t>
            </a:r>
            <a:endParaRPr/>
          </a:p>
        </p:txBody>
      </p:sp>
      <p:sp>
        <p:nvSpPr>
          <p:cNvPr id="134" name="Google Shape;134;p3"/>
          <p:cNvSpPr txBox="1"/>
          <p:nvPr/>
        </p:nvSpPr>
        <p:spPr>
          <a:xfrm>
            <a:off x="5920740" y="2651760"/>
            <a:ext cx="3474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135" name="Google Shape;135;p3"/>
          <p:cNvSpPr/>
          <p:nvPr/>
        </p:nvSpPr>
        <p:spPr>
          <a:xfrm>
            <a:off x="6268212" y="1920240"/>
            <a:ext cx="2606040" cy="1920240"/>
          </a:xfrm>
          <a:prstGeom prst="rect">
            <a:avLst/>
          </a:prstGeom>
          <a:solidFill>
            <a:srgbClr val="0D1E33"/>
          </a:solidFill>
          <a:ln cap="flat" cmpd="sng" w="9525">
            <a:solidFill>
              <a:srgbClr val="1E3A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3"/>
          <p:cNvSpPr txBox="1"/>
          <p:nvPr/>
        </p:nvSpPr>
        <p:spPr>
          <a:xfrm>
            <a:off x="6396228" y="2029968"/>
            <a:ext cx="23500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③ Peer Reassessment</a:t>
            </a:r>
            <a:endParaRPr/>
          </a:p>
        </p:txBody>
      </p:sp>
      <p:sp>
        <p:nvSpPr>
          <p:cNvPr id="137" name="Google Shape;137;p3"/>
          <p:cNvSpPr txBox="1"/>
          <p:nvPr/>
        </p:nvSpPr>
        <p:spPr>
          <a:xfrm>
            <a:off x="6396228" y="2304288"/>
            <a:ext cx="23500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Committee dynamics</a:t>
            </a:r>
            <a:endParaRPr/>
          </a:p>
        </p:txBody>
      </p:sp>
      <p:sp>
        <p:nvSpPr>
          <p:cNvPr id="138" name="Google Shape;138;p3"/>
          <p:cNvSpPr txBox="1"/>
          <p:nvPr/>
        </p:nvSpPr>
        <p:spPr>
          <a:xfrm>
            <a:off x="6396228" y="2670048"/>
            <a:ext cx="2350008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Each agent reads peers' concerns, pushes back or updates stance — adversarial by design</a:t>
            </a:r>
            <a:endParaRPr/>
          </a:p>
        </p:txBody>
      </p:sp>
      <p:sp>
        <p:nvSpPr>
          <p:cNvPr id="139" name="Google Shape;139;p3"/>
          <p:cNvSpPr txBox="1"/>
          <p:nvPr/>
        </p:nvSpPr>
        <p:spPr>
          <a:xfrm>
            <a:off x="8874252" y="2651760"/>
            <a:ext cx="3474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140" name="Google Shape;140;p3"/>
          <p:cNvSpPr/>
          <p:nvPr/>
        </p:nvSpPr>
        <p:spPr>
          <a:xfrm>
            <a:off x="9221724" y="1920240"/>
            <a:ext cx="2606040" cy="1920240"/>
          </a:xfrm>
          <a:prstGeom prst="rect">
            <a:avLst/>
          </a:prstGeom>
          <a:solidFill>
            <a:srgbClr val="0D1E33"/>
          </a:solidFill>
          <a:ln cap="flat" cmpd="sng" w="9525">
            <a:solidFill>
              <a:srgbClr val="1E3A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9349740" y="2029968"/>
            <a:ext cx="23500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④ Final Consensus</a:t>
            </a:r>
            <a:endParaRPr/>
          </a:p>
        </p:txBody>
      </p:sp>
      <p:sp>
        <p:nvSpPr>
          <p:cNvPr id="142" name="Google Shape;142;p3"/>
          <p:cNvSpPr txBox="1"/>
          <p:nvPr/>
        </p:nvSpPr>
        <p:spPr>
          <a:xfrm>
            <a:off x="9349740" y="2304288"/>
            <a:ext cx="23500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Structured verdict</a:t>
            </a:r>
            <a:endParaRPr/>
          </a:p>
        </p:txBody>
      </p:sp>
      <p:sp>
        <p:nvSpPr>
          <p:cNvPr id="143" name="Google Shape;143;p3"/>
          <p:cNvSpPr txBox="1"/>
          <p:nvPr/>
        </p:nvSpPr>
        <p:spPr>
          <a:xfrm>
            <a:off x="9349740" y="2670048"/>
            <a:ext cx="2350008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Synthesizer aggregates ratings, surfaces key tensions, issues a recommendation with rationale</a:t>
            </a:r>
            <a:endParaRPr/>
          </a:p>
        </p:txBody>
      </p:sp>
      <p:sp>
        <p:nvSpPr>
          <p:cNvPr id="144" name="Google Shape;144;p3"/>
          <p:cNvSpPr/>
          <p:nvPr/>
        </p:nvSpPr>
        <p:spPr>
          <a:xfrm>
            <a:off x="548640" y="4069080"/>
            <a:ext cx="1595628" cy="292608"/>
          </a:xfrm>
          <a:prstGeom prst="rect">
            <a:avLst/>
          </a:prstGeom>
          <a:solidFill>
            <a:srgbClr val="0D1E33"/>
          </a:solidFill>
          <a:ln cap="flat" cmpd="sng" w="9525">
            <a:solidFill>
              <a:srgbClr val="1E3A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 txBox="1"/>
          <p:nvPr/>
        </p:nvSpPr>
        <p:spPr>
          <a:xfrm>
            <a:off x="640080" y="4096512"/>
            <a:ext cx="14127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claude-sonnet-4-6</a:t>
            </a:r>
            <a:endParaRPr/>
          </a:p>
        </p:txBody>
      </p:sp>
      <p:sp>
        <p:nvSpPr>
          <p:cNvPr id="146" name="Google Shape;146;p3"/>
          <p:cNvSpPr/>
          <p:nvPr/>
        </p:nvSpPr>
        <p:spPr>
          <a:xfrm>
            <a:off x="2235708" y="4069080"/>
            <a:ext cx="1595628" cy="292608"/>
          </a:xfrm>
          <a:prstGeom prst="rect">
            <a:avLst/>
          </a:prstGeom>
          <a:solidFill>
            <a:srgbClr val="0D1E33"/>
          </a:solidFill>
          <a:ln cap="flat" cmpd="sng" w="9525">
            <a:solidFill>
              <a:srgbClr val="1E3A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 txBox="1"/>
          <p:nvPr/>
        </p:nvSpPr>
        <p:spPr>
          <a:xfrm>
            <a:off x="2327148" y="4096512"/>
            <a:ext cx="141274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Node.js / Express</a:t>
            </a:r>
            <a:endParaRPr/>
          </a:p>
        </p:txBody>
      </p:sp>
      <p:sp>
        <p:nvSpPr>
          <p:cNvPr id="148" name="Google Shape;148;p3"/>
          <p:cNvSpPr/>
          <p:nvPr/>
        </p:nvSpPr>
        <p:spPr>
          <a:xfrm>
            <a:off x="3922776" y="4069080"/>
            <a:ext cx="2528316" cy="292608"/>
          </a:xfrm>
          <a:prstGeom prst="rect">
            <a:avLst/>
          </a:prstGeom>
          <a:solidFill>
            <a:srgbClr val="0D1E33"/>
          </a:solidFill>
          <a:ln cap="flat" cmpd="sng" w="9525">
            <a:solidFill>
              <a:srgbClr val="1E3A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 txBox="1"/>
          <p:nvPr/>
        </p:nvSpPr>
        <p:spPr>
          <a:xfrm>
            <a:off x="4014216" y="4096512"/>
            <a:ext cx="234543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Promise.all() parallel agents</a:t>
            </a:r>
            <a:endParaRPr/>
          </a:p>
        </p:txBody>
      </p:sp>
      <p:sp>
        <p:nvSpPr>
          <p:cNvPr id="150" name="Google Shape;150;p3"/>
          <p:cNvSpPr/>
          <p:nvPr/>
        </p:nvSpPr>
        <p:spPr>
          <a:xfrm>
            <a:off x="6542532" y="4069080"/>
            <a:ext cx="2761488" cy="292608"/>
          </a:xfrm>
          <a:prstGeom prst="rect">
            <a:avLst/>
          </a:prstGeom>
          <a:solidFill>
            <a:srgbClr val="0D1E33"/>
          </a:solidFill>
          <a:ln cap="flat" cmpd="sng" w="9525">
            <a:solidFill>
              <a:srgbClr val="1E3A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 txBox="1"/>
          <p:nvPr/>
        </p:nvSpPr>
        <p:spPr>
          <a:xfrm>
            <a:off x="6633972" y="4096512"/>
            <a:ext cx="257860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Structured JSON tool-use outputs</a:t>
            </a:r>
            <a:endParaRPr/>
          </a:p>
        </p:txBody>
      </p:sp>
      <p:sp>
        <p:nvSpPr>
          <p:cNvPr id="152" name="Google Shape;152;p3"/>
          <p:cNvSpPr txBox="1"/>
          <p:nvPr/>
        </p:nvSpPr>
        <p:spPr>
          <a:xfrm>
            <a:off x="548640" y="457200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Let me show you →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60E1A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5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SUMMARY</a:t>
            </a:r>
            <a:endParaRPr/>
          </a:p>
        </p:txBody>
      </p:sp>
      <p:sp>
        <p:nvSpPr>
          <p:cNvPr id="159" name="Google Shape;159;p5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Prior authorization is a $31B problem. MedQuorum shows what agentic AI can do about it.</a:t>
            </a:r>
            <a:endParaRPr/>
          </a:p>
        </p:txBody>
      </p:sp>
      <p:sp>
        <p:nvSpPr>
          <p:cNvPr id="160" name="Google Shape;160;p5"/>
          <p:cNvSpPr/>
          <p:nvPr/>
        </p:nvSpPr>
        <p:spPr>
          <a:xfrm>
            <a:off x="548640" y="1691640"/>
            <a:ext cx="5394960" cy="3977639"/>
          </a:xfrm>
          <a:prstGeom prst="rect">
            <a:avLst/>
          </a:prstGeom>
          <a:solidFill>
            <a:srgbClr val="0D1E33"/>
          </a:solidFill>
          <a:ln cap="flat" cmpd="sng" w="9525">
            <a:solidFill>
              <a:srgbClr val="1E3A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 txBox="1"/>
          <p:nvPr/>
        </p:nvSpPr>
        <p:spPr>
          <a:xfrm>
            <a:off x="731520" y="181051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WHAT THE POC SHOWED</a:t>
            </a:r>
            <a:endParaRPr/>
          </a:p>
        </p:txBody>
      </p:sp>
      <p:sp>
        <p:nvSpPr>
          <p:cNvPr id="162" name="Google Shape;162;p5"/>
          <p:cNvSpPr/>
          <p:nvPr/>
        </p:nvSpPr>
        <p:spPr>
          <a:xfrm>
            <a:off x="731520" y="2212848"/>
            <a:ext cx="54864" cy="502920"/>
          </a:xfrm>
          <a:prstGeom prst="rect">
            <a:avLst/>
          </a:prstGeom>
          <a:solidFill>
            <a:srgbClr val="00C8B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 txBox="1"/>
          <p:nvPr/>
        </p:nvSpPr>
        <p:spPr>
          <a:xfrm>
            <a:off x="886968" y="2212848"/>
            <a:ext cx="4846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10 independent reviewers generated and run in under a minute</a:t>
            </a:r>
            <a:endParaRPr/>
          </a:p>
        </p:txBody>
      </p:sp>
      <p:sp>
        <p:nvSpPr>
          <p:cNvPr id="164" name="Google Shape;164;p5"/>
          <p:cNvSpPr/>
          <p:nvPr/>
        </p:nvSpPr>
        <p:spPr>
          <a:xfrm>
            <a:off x="731520" y="3017520"/>
            <a:ext cx="54864" cy="502920"/>
          </a:xfrm>
          <a:prstGeom prst="rect">
            <a:avLst/>
          </a:prstGeom>
          <a:solidFill>
            <a:srgbClr val="00C8B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 txBox="1"/>
          <p:nvPr/>
        </p:nvSpPr>
        <p:spPr>
          <a:xfrm>
            <a:off x="886968" y="3017520"/>
            <a:ext cx="4846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b="0" i="0" lang="en-US" sz="95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ocumentation errors caught automatically</a:t>
            </a:r>
            <a:r>
              <a:rPr lang="en-US" sz="950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b="0" i="0" lang="en-US" sz="95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 wrong drug mechanism</a:t>
            </a:r>
            <a:r>
              <a:rPr lang="en-US" sz="950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b="0" i="0" lang="en-US" sz="95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 no nephrology clearance, stale psych evaluati</a:t>
            </a:r>
            <a:r>
              <a:rPr b="0" i="0" lang="en-US" sz="95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on</a:t>
            </a:r>
            <a:endParaRPr/>
          </a:p>
        </p:txBody>
      </p:sp>
      <p:sp>
        <p:nvSpPr>
          <p:cNvPr id="166" name="Google Shape;166;p5"/>
          <p:cNvSpPr/>
          <p:nvPr/>
        </p:nvSpPr>
        <p:spPr>
          <a:xfrm>
            <a:off x="731520" y="3822192"/>
            <a:ext cx="54864" cy="502920"/>
          </a:xfrm>
          <a:prstGeom prst="rect">
            <a:avLst/>
          </a:prstGeom>
          <a:solidFill>
            <a:srgbClr val="00C8B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"/>
          <p:cNvSpPr txBox="1"/>
          <p:nvPr/>
        </p:nvSpPr>
        <p:spPr>
          <a:xfrm>
            <a:off x="886968" y="3822192"/>
            <a:ext cx="48462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Genuine stakeholder disagreement surfaced</a:t>
            </a:r>
            <a:r>
              <a:rPr lang="en-US" sz="950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b="0" i="0" lang="en-US" sz="95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real tensions, not just averaged ratings</a:t>
            </a:r>
            <a:endParaRPr/>
          </a:p>
        </p:txBody>
      </p:sp>
      <p:sp>
        <p:nvSpPr>
          <p:cNvPr id="168" name="Google Shape;168;p5"/>
          <p:cNvSpPr/>
          <p:nvPr/>
        </p:nvSpPr>
        <p:spPr>
          <a:xfrm>
            <a:off x="731520" y="4626864"/>
            <a:ext cx="54864" cy="502920"/>
          </a:xfrm>
          <a:prstGeom prst="rect">
            <a:avLst/>
          </a:prstGeom>
          <a:solidFill>
            <a:srgbClr val="00C8B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886968" y="4626864"/>
            <a:ext cx="4846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Structured verdict with specific, actionable conditions for approval</a:t>
            </a:r>
            <a:endParaRPr/>
          </a:p>
        </p:txBody>
      </p:sp>
      <p:sp>
        <p:nvSpPr>
          <p:cNvPr id="170" name="Google Shape;170;p5"/>
          <p:cNvSpPr/>
          <p:nvPr/>
        </p:nvSpPr>
        <p:spPr>
          <a:xfrm>
            <a:off x="6263640" y="1691640"/>
            <a:ext cx="5577840" cy="3977639"/>
          </a:xfrm>
          <a:prstGeom prst="rect">
            <a:avLst/>
          </a:prstGeom>
          <a:solidFill>
            <a:srgbClr val="0D1E33"/>
          </a:solidFill>
          <a:ln cap="flat" cmpd="sng" w="9525">
            <a:solidFill>
              <a:srgbClr val="1E3A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6446520" y="1810512"/>
            <a:ext cx="5212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THREE INVESTMENTS FOR COTIVITI</a:t>
            </a:r>
            <a:endParaRPr/>
          </a:p>
        </p:txBody>
      </p:sp>
      <p:sp>
        <p:nvSpPr>
          <p:cNvPr id="172" name="Google Shape;172;p5"/>
          <p:cNvSpPr txBox="1"/>
          <p:nvPr/>
        </p:nvSpPr>
        <p:spPr>
          <a:xfrm>
            <a:off x="6446520" y="2212848"/>
            <a:ext cx="5212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Provider-facing · Near-term</a:t>
            </a:r>
            <a:endParaRPr/>
          </a:p>
        </p:txBody>
      </p:sp>
      <p:sp>
        <p:nvSpPr>
          <p:cNvPr id="173" name="Google Shape;173;p5"/>
          <p:cNvSpPr txBox="1"/>
          <p:nvPr/>
        </p:nvSpPr>
        <p:spPr>
          <a:xfrm>
            <a:off x="6446520" y="246888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Documentation Quality Scorer</a:t>
            </a:r>
            <a:endParaRPr/>
          </a:p>
        </p:txBody>
      </p:sp>
      <p:sp>
        <p:nvSpPr>
          <p:cNvPr id="174" name="Google Shape;174;p5"/>
          <p:cNvSpPr txBox="1"/>
          <p:nvPr/>
        </p:nvSpPr>
        <p:spPr>
          <a:xfrm>
            <a:off x="6446520" y="2779776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Flag errors before a request reaches UM — neutral intermediary for both sides.</a:t>
            </a:r>
            <a:endParaRPr/>
          </a:p>
        </p:txBody>
      </p:sp>
      <p:sp>
        <p:nvSpPr>
          <p:cNvPr id="175" name="Google Shape;175;p5"/>
          <p:cNvSpPr txBox="1"/>
          <p:nvPr/>
        </p:nvSpPr>
        <p:spPr>
          <a:xfrm>
            <a:off x="6446520" y="3310128"/>
            <a:ext cx="5212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Payer-facing · Medium-term</a:t>
            </a:r>
            <a:endParaRPr/>
          </a:p>
        </p:txBody>
      </p:sp>
      <p:sp>
        <p:nvSpPr>
          <p:cNvPr id="176" name="Google Shape;176;p5"/>
          <p:cNvSpPr txBox="1"/>
          <p:nvPr/>
        </p:nvSpPr>
        <p:spPr>
          <a:xfrm>
            <a:off x="6446520" y="356616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Simulation Advisory Layer</a:t>
            </a:r>
            <a:endParaRPr/>
          </a:p>
        </p:txBody>
      </p:sp>
      <p:sp>
        <p:nvSpPr>
          <p:cNvPr id="177" name="Google Shape;177;p5"/>
          <p:cNvSpPr txBox="1"/>
          <p:nvPr/>
        </p:nvSpPr>
        <p:spPr>
          <a:xfrm>
            <a:off x="6446520" y="3877056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Structured PA committee reports in minutes. Human decision authority preserved.</a:t>
            </a:r>
            <a:endParaRPr/>
          </a:p>
        </p:txBody>
      </p:sp>
      <p:sp>
        <p:nvSpPr>
          <p:cNvPr id="178" name="Google Shape;178;p5"/>
          <p:cNvSpPr txBox="1"/>
          <p:nvPr/>
        </p:nvSpPr>
        <p:spPr>
          <a:xfrm>
            <a:off x="6446520" y="4407408"/>
            <a:ext cx="5212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00C8B4"/>
                </a:solidFill>
                <a:latin typeface="Calibri"/>
                <a:ea typeface="Calibri"/>
                <a:cs typeface="Calibri"/>
                <a:sym typeface="Calibri"/>
              </a:rPr>
              <a:t>Infrastructure · Long-term</a:t>
            </a:r>
            <a:endParaRPr/>
          </a:p>
        </p:txBody>
      </p:sp>
      <p:sp>
        <p:nvSpPr>
          <p:cNvPr id="179" name="Google Shape;179;p5"/>
          <p:cNvSpPr txBox="1"/>
          <p:nvPr/>
        </p:nvSpPr>
        <p:spPr>
          <a:xfrm>
            <a:off x="6446520" y="466344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Private-Cloud LLM Inference</a:t>
            </a:r>
            <a:endParaRPr/>
          </a:p>
        </p:txBody>
      </p:sp>
      <p:sp>
        <p:nvSpPr>
          <p:cNvPr id="180" name="Google Shape;180;p5"/>
          <p:cNvSpPr txBox="1"/>
          <p:nvPr/>
        </p:nvSpPr>
        <p:spPr>
          <a:xfrm>
            <a:off x="6446520" y="4974336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HIPAA-compliant processing of member-level records. No third-party API exposure.</a:t>
            </a:r>
            <a:endParaRPr/>
          </a:p>
        </p:txBody>
      </p:sp>
      <p:sp>
        <p:nvSpPr>
          <p:cNvPr id="181" name="Google Shape;181;p5"/>
          <p:cNvSpPr/>
          <p:nvPr/>
        </p:nvSpPr>
        <p:spPr>
          <a:xfrm>
            <a:off x="548640" y="5806440"/>
            <a:ext cx="11292840" cy="548640"/>
          </a:xfrm>
          <a:prstGeom prst="rect">
            <a:avLst/>
          </a:prstGeom>
          <a:solidFill>
            <a:srgbClr val="00201A"/>
          </a:solidFill>
          <a:ln cap="flat" cmpd="sng" w="9525">
            <a:solidFill>
              <a:srgbClr val="00807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5"/>
          <p:cNvSpPr txBox="1"/>
          <p:nvPr/>
        </p:nvSpPr>
        <p:spPr>
          <a:xfrm>
            <a:off x="731520" y="5888736"/>
            <a:ext cx="109728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E8F2FA"/>
                </a:solidFill>
                <a:latin typeface="Calibri"/>
                <a:ea typeface="Calibri"/>
                <a:cs typeface="Calibri"/>
                <a:sym typeface="Calibri"/>
              </a:rPr>
              <a:t>⬡  Cotiviti's edge: claims data validates simulation outputs against real outcomes — grounded confidence scoring no competitor can replicate.</a:t>
            </a:r>
            <a:endParaRPr/>
          </a:p>
        </p:txBody>
      </p:sp>
      <p:sp>
        <p:nvSpPr>
          <p:cNvPr id="183" name="Google Shape;183;p5"/>
          <p:cNvSpPr txBox="1"/>
          <p:nvPr/>
        </p:nvSpPr>
        <p:spPr>
          <a:xfrm>
            <a:off x="548640" y="6492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E85A6"/>
                </a:solidFill>
                <a:latin typeface="Calibri"/>
                <a:ea typeface="Calibri"/>
                <a:cs typeface="Calibri"/>
                <a:sym typeface="Calibri"/>
              </a:rPr>
              <a:t>Raymond He  ·  raymondhhe@gmail.com  ·  Thank you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